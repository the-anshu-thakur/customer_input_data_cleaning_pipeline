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5"/>
  </p:notesMasterIdLst>
  <p:sldIdLst>
    <p:sldId id="256" r:id="rId2"/>
    <p:sldId id="718" r:id="rId3"/>
    <p:sldId id="717" r:id="rId4"/>
    <p:sldId id="726" r:id="rId5"/>
    <p:sldId id="719" r:id="rId6"/>
    <p:sldId id="720" r:id="rId7"/>
    <p:sldId id="721" r:id="rId8"/>
    <p:sldId id="722" r:id="rId9"/>
    <p:sldId id="723" r:id="rId10"/>
    <p:sldId id="725" r:id="rId11"/>
    <p:sldId id="724" r:id="rId12"/>
    <p:sldId id="265" r:id="rId13"/>
    <p:sldId id="30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43554EC-044F-4930-94D5-A607C9A1E720}">
          <p14:sldIdLst>
            <p14:sldId id="256"/>
            <p14:sldId id="718"/>
            <p14:sldId id="717"/>
            <p14:sldId id="726"/>
            <p14:sldId id="719"/>
            <p14:sldId id="720"/>
            <p14:sldId id="721"/>
            <p14:sldId id="722"/>
            <p14:sldId id="723"/>
            <p14:sldId id="725"/>
            <p14:sldId id="724"/>
            <p14:sldId id="265"/>
            <p14:sldId id="30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71" autoAdjust="0"/>
    <p:restoredTop sz="93447" autoAdjust="0"/>
  </p:normalViewPr>
  <p:slideViewPr>
    <p:cSldViewPr snapToGrid="0">
      <p:cViewPr varScale="1">
        <p:scale>
          <a:sx n="79" d="100"/>
          <a:sy n="79" d="100"/>
        </p:scale>
        <p:origin x="739" y="82"/>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19-08-2025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b="1" dirty="0"/>
              <a:t>Customer Input Data Cleaning Pipeline</a:t>
            </a:r>
          </a:p>
        </p:txBody>
      </p:sp>
      <p:sp>
        <p:nvSpPr>
          <p:cNvPr id="3" name="Rectangle 2">
            <a:extLst>
              <a:ext uri="{FF2B5EF4-FFF2-40B4-BE49-F238E27FC236}">
                <a16:creationId xmlns:a16="http://schemas.microsoft.com/office/drawing/2014/main" id="{A9E7AB13-545F-FF89-AFED-CC820CF865AC}"/>
              </a:ext>
            </a:extLst>
          </p:cNvPr>
          <p:cNvSpPr/>
          <p:nvPr/>
        </p:nvSpPr>
        <p:spPr>
          <a:xfrm>
            <a:off x="4800600" y="3923183"/>
            <a:ext cx="2590800" cy="171885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b="1" dirty="0"/>
              <a:t>ASHISH</a:t>
            </a:r>
          </a:p>
          <a:p>
            <a:pPr algn="ctr"/>
            <a:r>
              <a:rPr lang="en-US" sz="4800" b="1" dirty="0"/>
              <a:t>2025</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20908-0396-8904-6E2B-42A22E5FA8A3}"/>
              </a:ext>
            </a:extLst>
          </p:cNvPr>
          <p:cNvSpPr>
            <a:spLocks noGrp="1"/>
          </p:cNvSpPr>
          <p:nvPr>
            <p:ph type="title"/>
          </p:nvPr>
        </p:nvSpPr>
        <p:spPr/>
        <p:txBody>
          <a:bodyPr/>
          <a:lstStyle/>
          <a:p>
            <a:pPr algn="ctr"/>
            <a:r>
              <a:rPr lang="en-US" dirty="0"/>
              <a:t>INTRODUCTION </a:t>
            </a:r>
            <a:endParaRPr lang="en-IN" dirty="0"/>
          </a:p>
        </p:txBody>
      </p:sp>
      <p:sp>
        <p:nvSpPr>
          <p:cNvPr id="4" name="Rectangle 1">
            <a:extLst>
              <a:ext uri="{FF2B5EF4-FFF2-40B4-BE49-F238E27FC236}">
                <a16:creationId xmlns:a16="http://schemas.microsoft.com/office/drawing/2014/main" id="{075C1338-7FF0-ED88-58AB-1643F7284A49}"/>
              </a:ext>
            </a:extLst>
          </p:cNvPr>
          <p:cNvSpPr>
            <a:spLocks noGrp="1" noChangeArrowheads="1"/>
          </p:cNvSpPr>
          <p:nvPr>
            <p:ph idx="1"/>
          </p:nvPr>
        </p:nvSpPr>
        <p:spPr bwMode="auto">
          <a:xfrm>
            <a:off x="678884" y="1611951"/>
            <a:ext cx="10834234"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Real-world customer data often contains noise such as emojis, HTML tags, repeated characters, and informal language.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These issues reduce the quality of analysis and make it difficult for businesses to extract insights.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Data cleaning is a crucial step in the data preprocessing pipeline for ensuring accurate analysis and model building.</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This project, </a:t>
            </a:r>
            <a:r>
              <a:rPr kumimoji="0" lang="en-US" altLang="en-US" sz="2400" b="1" i="0" u="none" strike="noStrike" cap="none" normalizeH="0" baseline="0" dirty="0">
                <a:ln>
                  <a:noFill/>
                </a:ln>
                <a:solidFill>
                  <a:schemeClr val="tx1"/>
                </a:solidFill>
                <a:effectLst/>
                <a:latin typeface="Arial" panose="020B0604020202020204" pitchFamily="34" charset="0"/>
              </a:rPr>
              <a:t>Customer Input Data Cleaning Pipeline</a:t>
            </a:r>
            <a:r>
              <a:rPr kumimoji="0" lang="en-US" altLang="en-US" sz="2400" b="0" i="0" u="none" strike="noStrike" cap="none" normalizeH="0" baseline="0" dirty="0">
                <a:ln>
                  <a:noFill/>
                </a:ln>
                <a:solidFill>
                  <a:schemeClr val="tx1"/>
                </a:solidFill>
                <a:effectLst/>
                <a:latin typeface="Arial" panose="020B0604020202020204" pitchFamily="34" charset="0"/>
              </a:rPr>
              <a:t>, aims to automatically clean raw user comments from Excel/CSV files.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The pipeline standardizes text by removing unwanted elements, normalizing patterns, and preparing structured, usable data.</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The cleaned dataset can then be used for further analysis, sentiment classification, or business intelligence applications.</a:t>
            </a:r>
          </a:p>
        </p:txBody>
      </p:sp>
    </p:spTree>
    <p:extLst>
      <p:ext uri="{BB962C8B-B14F-4D97-AF65-F5344CB8AC3E}">
        <p14:creationId xmlns:p14="http://schemas.microsoft.com/office/powerpoint/2010/main" val="4233809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2D6A6-C0E9-EE63-B9E6-E0FFEC6668C2}"/>
              </a:ext>
            </a:extLst>
          </p:cNvPr>
          <p:cNvSpPr>
            <a:spLocks noGrp="1"/>
          </p:cNvSpPr>
          <p:nvPr>
            <p:ph type="title"/>
          </p:nvPr>
        </p:nvSpPr>
        <p:spPr/>
        <p:txBody>
          <a:bodyPr/>
          <a:lstStyle/>
          <a:p>
            <a:r>
              <a:rPr lang="en-IN" dirty="0"/>
              <a:t>Project Overview</a:t>
            </a:r>
          </a:p>
        </p:txBody>
      </p:sp>
      <p:sp>
        <p:nvSpPr>
          <p:cNvPr id="3" name="Content Placeholder 2">
            <a:extLst>
              <a:ext uri="{FF2B5EF4-FFF2-40B4-BE49-F238E27FC236}">
                <a16:creationId xmlns:a16="http://schemas.microsoft.com/office/drawing/2014/main" id="{16787A75-5404-8ABA-0F16-1978C8B8694E}"/>
              </a:ext>
            </a:extLst>
          </p:cNvPr>
          <p:cNvSpPr>
            <a:spLocks noGrp="1"/>
          </p:cNvSpPr>
          <p:nvPr>
            <p:ph idx="1"/>
          </p:nvPr>
        </p:nvSpPr>
        <p:spPr/>
        <p:txBody>
          <a:bodyPr/>
          <a:lstStyle/>
          <a:p>
            <a:r>
              <a:rPr lang="en-IN" dirty="0"/>
              <a:t>Goal: Build a text cleaning pipeline for customer input data</a:t>
            </a:r>
          </a:p>
          <a:p>
            <a:r>
              <a:rPr lang="en-IN" dirty="0"/>
              <a:t>Input: Raw Excel/CSV with user comments</a:t>
            </a:r>
          </a:p>
          <a:p>
            <a:r>
              <a:rPr lang="en-IN" dirty="0"/>
              <a:t>Output: Cleaned dataset ready for analysis (sentiment, keyword extraction)</a:t>
            </a:r>
          </a:p>
          <a:p>
            <a:endParaRPr lang="en-IN" dirty="0"/>
          </a:p>
        </p:txBody>
      </p:sp>
    </p:spTree>
    <p:extLst>
      <p:ext uri="{BB962C8B-B14F-4D97-AF65-F5344CB8AC3E}">
        <p14:creationId xmlns:p14="http://schemas.microsoft.com/office/powerpoint/2010/main" val="2821397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EAA4A-3381-B7D5-FD22-A530551ED97C}"/>
              </a:ext>
            </a:extLst>
          </p:cNvPr>
          <p:cNvSpPr>
            <a:spLocks noGrp="1"/>
          </p:cNvSpPr>
          <p:nvPr>
            <p:ph type="title"/>
          </p:nvPr>
        </p:nvSpPr>
        <p:spPr/>
        <p:txBody>
          <a:bodyPr/>
          <a:lstStyle/>
          <a:p>
            <a:r>
              <a:rPr lang="en-US" dirty="0"/>
              <a:t>COLUMN DETAIL</a:t>
            </a:r>
            <a:endParaRPr lang="en-IN" dirty="0"/>
          </a:p>
        </p:txBody>
      </p:sp>
      <p:graphicFrame>
        <p:nvGraphicFramePr>
          <p:cNvPr id="4" name="Content Placeholder 3">
            <a:extLst>
              <a:ext uri="{FF2B5EF4-FFF2-40B4-BE49-F238E27FC236}">
                <a16:creationId xmlns:a16="http://schemas.microsoft.com/office/drawing/2014/main" id="{23327028-D76E-4632-5725-665A2CAE03E1}"/>
              </a:ext>
            </a:extLst>
          </p:cNvPr>
          <p:cNvGraphicFramePr>
            <a:graphicFrameLocks noGrp="1"/>
          </p:cNvGraphicFramePr>
          <p:nvPr>
            <p:ph idx="1"/>
            <p:extLst>
              <p:ext uri="{D42A27DB-BD31-4B8C-83A1-F6EECF244321}">
                <p14:modId xmlns:p14="http://schemas.microsoft.com/office/powerpoint/2010/main" val="3755624870"/>
              </p:ext>
            </p:extLst>
          </p:nvPr>
        </p:nvGraphicFramePr>
        <p:xfrm>
          <a:off x="678884" y="1482263"/>
          <a:ext cx="9943720" cy="4548888"/>
        </p:xfrm>
        <a:graphic>
          <a:graphicData uri="http://schemas.openxmlformats.org/drawingml/2006/table">
            <a:tbl>
              <a:tblPr/>
              <a:tblGrid>
                <a:gridCol w="4971860">
                  <a:extLst>
                    <a:ext uri="{9D8B030D-6E8A-4147-A177-3AD203B41FA5}">
                      <a16:colId xmlns:a16="http://schemas.microsoft.com/office/drawing/2014/main" val="884122500"/>
                    </a:ext>
                  </a:extLst>
                </a:gridCol>
                <a:gridCol w="4971860">
                  <a:extLst>
                    <a:ext uri="{9D8B030D-6E8A-4147-A177-3AD203B41FA5}">
                      <a16:colId xmlns:a16="http://schemas.microsoft.com/office/drawing/2014/main" val="3047530966"/>
                    </a:ext>
                  </a:extLst>
                </a:gridCol>
              </a:tblGrid>
              <a:tr h="505432">
                <a:tc>
                  <a:txBody>
                    <a:bodyPr/>
                    <a:lstStyle/>
                    <a:p>
                      <a:pPr>
                        <a:buNone/>
                      </a:pPr>
                      <a:r>
                        <a:rPr lang="en-IN" dirty="0"/>
                        <a:t>Column</a:t>
                      </a:r>
                    </a:p>
                  </a:txBody>
                  <a:tcPr anchor="ctr">
                    <a:lnL>
                      <a:noFill/>
                    </a:lnL>
                    <a:lnR>
                      <a:noFill/>
                    </a:lnR>
                    <a:lnT>
                      <a:noFill/>
                    </a:lnT>
                    <a:lnB>
                      <a:noFill/>
                    </a:lnB>
                    <a:noFill/>
                  </a:tcPr>
                </a:tc>
                <a:tc>
                  <a:txBody>
                    <a:bodyPr/>
                    <a:lstStyle/>
                    <a:p>
                      <a:pPr>
                        <a:buNone/>
                      </a:pPr>
                      <a:r>
                        <a:rPr lang="en-IN"/>
                        <a:t>Description</a:t>
                      </a:r>
                    </a:p>
                  </a:txBody>
                  <a:tcPr anchor="ctr">
                    <a:lnL>
                      <a:noFill/>
                    </a:lnL>
                    <a:lnR>
                      <a:noFill/>
                    </a:lnR>
                    <a:lnT>
                      <a:noFill/>
                    </a:lnT>
                    <a:lnB>
                      <a:noFill/>
                    </a:lnB>
                    <a:noFill/>
                  </a:tcPr>
                </a:tc>
                <a:extLst>
                  <a:ext uri="{0D108BD9-81ED-4DB2-BD59-A6C34878D82A}">
                    <a16:rowId xmlns:a16="http://schemas.microsoft.com/office/drawing/2014/main" val="4137054338"/>
                  </a:ext>
                </a:extLst>
              </a:tr>
              <a:tr h="884506">
                <a:tc>
                  <a:txBody>
                    <a:bodyPr/>
                    <a:lstStyle/>
                    <a:p>
                      <a:pPr>
                        <a:buNone/>
                      </a:pPr>
                      <a:r>
                        <a:rPr lang="en-IN" b="1"/>
                        <a:t>rating</a:t>
                      </a:r>
                      <a:endParaRPr lang="en-IN"/>
                    </a:p>
                  </a:txBody>
                  <a:tcPr anchor="ctr">
                    <a:lnL>
                      <a:noFill/>
                    </a:lnL>
                    <a:lnR>
                      <a:noFill/>
                    </a:lnR>
                    <a:lnT>
                      <a:noFill/>
                    </a:lnT>
                    <a:lnB>
                      <a:noFill/>
                    </a:lnB>
                    <a:noFill/>
                  </a:tcPr>
                </a:tc>
                <a:tc>
                  <a:txBody>
                    <a:bodyPr/>
                    <a:lstStyle/>
                    <a:p>
                      <a:pPr>
                        <a:buNone/>
                      </a:pPr>
                      <a:r>
                        <a:rPr lang="en-US"/>
                        <a:t>Customer rating (1 to 5 stars) for the Alexa device.</a:t>
                      </a:r>
                    </a:p>
                  </a:txBody>
                  <a:tcPr anchor="ctr">
                    <a:lnL>
                      <a:noFill/>
                    </a:lnL>
                    <a:lnR>
                      <a:noFill/>
                    </a:lnR>
                    <a:lnT>
                      <a:noFill/>
                    </a:lnT>
                    <a:lnB>
                      <a:noFill/>
                    </a:lnB>
                    <a:noFill/>
                  </a:tcPr>
                </a:tc>
                <a:extLst>
                  <a:ext uri="{0D108BD9-81ED-4DB2-BD59-A6C34878D82A}">
                    <a16:rowId xmlns:a16="http://schemas.microsoft.com/office/drawing/2014/main" val="1201634673"/>
                  </a:ext>
                </a:extLst>
              </a:tr>
              <a:tr h="505432">
                <a:tc>
                  <a:txBody>
                    <a:bodyPr/>
                    <a:lstStyle/>
                    <a:p>
                      <a:pPr>
                        <a:buNone/>
                      </a:pPr>
                      <a:r>
                        <a:rPr lang="en-IN" b="1"/>
                        <a:t>date</a:t>
                      </a:r>
                      <a:endParaRPr lang="en-IN"/>
                    </a:p>
                  </a:txBody>
                  <a:tcPr anchor="ctr">
                    <a:lnL>
                      <a:noFill/>
                    </a:lnL>
                    <a:lnR>
                      <a:noFill/>
                    </a:lnR>
                    <a:lnT>
                      <a:noFill/>
                    </a:lnT>
                    <a:lnB>
                      <a:noFill/>
                    </a:lnB>
                    <a:noFill/>
                  </a:tcPr>
                </a:tc>
                <a:tc>
                  <a:txBody>
                    <a:bodyPr/>
                    <a:lstStyle/>
                    <a:p>
                      <a:pPr>
                        <a:buNone/>
                      </a:pPr>
                      <a:r>
                        <a:rPr lang="en-US"/>
                        <a:t>Date of the review submission.</a:t>
                      </a:r>
                    </a:p>
                  </a:txBody>
                  <a:tcPr anchor="ctr">
                    <a:lnL>
                      <a:noFill/>
                    </a:lnL>
                    <a:lnR>
                      <a:noFill/>
                    </a:lnR>
                    <a:lnT>
                      <a:noFill/>
                    </a:lnT>
                    <a:lnB>
                      <a:noFill/>
                    </a:lnB>
                    <a:noFill/>
                  </a:tcPr>
                </a:tc>
                <a:extLst>
                  <a:ext uri="{0D108BD9-81ED-4DB2-BD59-A6C34878D82A}">
                    <a16:rowId xmlns:a16="http://schemas.microsoft.com/office/drawing/2014/main" val="2391068897"/>
                  </a:ext>
                </a:extLst>
              </a:tr>
              <a:tr h="884506">
                <a:tc>
                  <a:txBody>
                    <a:bodyPr/>
                    <a:lstStyle/>
                    <a:p>
                      <a:pPr>
                        <a:buNone/>
                      </a:pPr>
                      <a:r>
                        <a:rPr lang="en-IN" b="1"/>
                        <a:t>variation</a:t>
                      </a:r>
                      <a:endParaRPr lang="en-IN"/>
                    </a:p>
                  </a:txBody>
                  <a:tcPr anchor="ctr">
                    <a:lnL>
                      <a:noFill/>
                    </a:lnL>
                    <a:lnR>
                      <a:noFill/>
                    </a:lnR>
                    <a:lnT>
                      <a:noFill/>
                    </a:lnT>
                    <a:lnB>
                      <a:noFill/>
                    </a:lnB>
                    <a:noFill/>
                  </a:tcPr>
                </a:tc>
                <a:tc>
                  <a:txBody>
                    <a:bodyPr/>
                    <a:lstStyle/>
                    <a:p>
                      <a:pPr>
                        <a:buNone/>
                      </a:pPr>
                      <a:r>
                        <a:rPr lang="en-US"/>
                        <a:t>The product variation (e.g., color or version of Alexa device).</a:t>
                      </a:r>
                    </a:p>
                  </a:txBody>
                  <a:tcPr anchor="ctr">
                    <a:lnL>
                      <a:noFill/>
                    </a:lnL>
                    <a:lnR>
                      <a:noFill/>
                    </a:lnR>
                    <a:lnT>
                      <a:noFill/>
                    </a:lnT>
                    <a:lnB>
                      <a:noFill/>
                    </a:lnB>
                    <a:noFill/>
                  </a:tcPr>
                </a:tc>
                <a:extLst>
                  <a:ext uri="{0D108BD9-81ED-4DB2-BD59-A6C34878D82A}">
                    <a16:rowId xmlns:a16="http://schemas.microsoft.com/office/drawing/2014/main" val="1536125919"/>
                  </a:ext>
                </a:extLst>
              </a:tr>
              <a:tr h="884506">
                <a:tc>
                  <a:txBody>
                    <a:bodyPr/>
                    <a:lstStyle/>
                    <a:p>
                      <a:pPr>
                        <a:buNone/>
                      </a:pPr>
                      <a:r>
                        <a:rPr lang="en-IN" b="1"/>
                        <a:t>verified_reviews</a:t>
                      </a:r>
                      <a:endParaRPr lang="en-IN"/>
                    </a:p>
                  </a:txBody>
                  <a:tcPr anchor="ctr">
                    <a:lnL>
                      <a:noFill/>
                    </a:lnL>
                    <a:lnR>
                      <a:noFill/>
                    </a:lnR>
                    <a:lnT>
                      <a:noFill/>
                    </a:lnT>
                    <a:lnB>
                      <a:noFill/>
                    </a:lnB>
                    <a:noFill/>
                  </a:tcPr>
                </a:tc>
                <a:tc>
                  <a:txBody>
                    <a:bodyPr/>
                    <a:lstStyle/>
                    <a:p>
                      <a:pPr>
                        <a:buNone/>
                      </a:pPr>
                      <a:r>
                        <a:rPr lang="en-US"/>
                        <a:t>The actual text of the customer’s review.</a:t>
                      </a:r>
                    </a:p>
                  </a:txBody>
                  <a:tcPr anchor="ctr">
                    <a:lnL>
                      <a:noFill/>
                    </a:lnL>
                    <a:lnR>
                      <a:noFill/>
                    </a:lnR>
                    <a:lnT>
                      <a:noFill/>
                    </a:lnT>
                    <a:lnB>
                      <a:noFill/>
                    </a:lnB>
                    <a:noFill/>
                  </a:tcPr>
                </a:tc>
                <a:extLst>
                  <a:ext uri="{0D108BD9-81ED-4DB2-BD59-A6C34878D82A}">
                    <a16:rowId xmlns:a16="http://schemas.microsoft.com/office/drawing/2014/main" val="590843217"/>
                  </a:ext>
                </a:extLst>
              </a:tr>
              <a:tr h="884506">
                <a:tc>
                  <a:txBody>
                    <a:bodyPr/>
                    <a:lstStyle/>
                    <a:p>
                      <a:pPr>
                        <a:buNone/>
                      </a:pPr>
                      <a:r>
                        <a:rPr lang="en-IN" b="1"/>
                        <a:t>feedback</a:t>
                      </a:r>
                      <a:endParaRPr lang="en-IN"/>
                    </a:p>
                  </a:txBody>
                  <a:tcPr anchor="ctr">
                    <a:lnL>
                      <a:noFill/>
                    </a:lnL>
                    <a:lnR>
                      <a:noFill/>
                    </a:lnR>
                    <a:lnT>
                      <a:noFill/>
                    </a:lnT>
                    <a:lnB>
                      <a:noFill/>
                    </a:lnB>
                    <a:noFill/>
                  </a:tcPr>
                </a:tc>
                <a:tc>
                  <a:txBody>
                    <a:bodyPr/>
                    <a:lstStyle/>
                    <a:p>
                      <a:pPr>
                        <a:buNone/>
                      </a:pPr>
                      <a:r>
                        <a:rPr lang="en-IN" dirty="0"/>
                        <a:t>Sentiment/feedback label (1 = Positive, 0 = Negative).</a:t>
                      </a:r>
                    </a:p>
                  </a:txBody>
                  <a:tcPr anchor="ctr">
                    <a:lnL>
                      <a:noFill/>
                    </a:lnL>
                    <a:lnR>
                      <a:noFill/>
                    </a:lnR>
                    <a:lnT>
                      <a:noFill/>
                    </a:lnT>
                    <a:lnB>
                      <a:noFill/>
                    </a:lnB>
                    <a:noFill/>
                  </a:tcPr>
                </a:tc>
                <a:extLst>
                  <a:ext uri="{0D108BD9-81ED-4DB2-BD59-A6C34878D82A}">
                    <a16:rowId xmlns:a16="http://schemas.microsoft.com/office/drawing/2014/main" val="111092108"/>
                  </a:ext>
                </a:extLst>
              </a:tr>
            </a:tbl>
          </a:graphicData>
        </a:graphic>
      </p:graphicFrame>
    </p:spTree>
    <p:extLst>
      <p:ext uri="{BB962C8B-B14F-4D97-AF65-F5344CB8AC3E}">
        <p14:creationId xmlns:p14="http://schemas.microsoft.com/office/powerpoint/2010/main" val="2425382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6DA20-B66D-892D-8C4A-3D20CA45C5AA}"/>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967E6BCC-895D-456F-71F0-E1B163050A45}"/>
              </a:ext>
            </a:extLst>
          </p:cNvPr>
          <p:cNvSpPr>
            <a:spLocks noGrp="1"/>
          </p:cNvSpPr>
          <p:nvPr>
            <p:ph idx="1"/>
          </p:nvPr>
        </p:nvSpPr>
        <p:spPr/>
        <p:txBody>
          <a:bodyPr/>
          <a:lstStyle/>
          <a:p>
            <a:r>
              <a:rPr lang="en-IN" dirty="0"/>
              <a:t>- Raw customer comments often contain:</a:t>
            </a:r>
          </a:p>
          <a:p>
            <a:r>
              <a:rPr lang="en-IN" dirty="0"/>
              <a:t>  • Emojis, HTML tags</a:t>
            </a:r>
          </a:p>
          <a:p>
            <a:r>
              <a:rPr lang="en-IN" dirty="0"/>
              <a:t>  • Contractions ('don’t' → 'do not')</a:t>
            </a:r>
          </a:p>
          <a:p>
            <a:r>
              <a:rPr lang="en-IN" dirty="0"/>
              <a:t>  • Repeated characters ('</a:t>
            </a:r>
            <a:r>
              <a:rPr lang="en-IN" dirty="0" err="1"/>
              <a:t>goooood</a:t>
            </a:r>
            <a:r>
              <a:rPr lang="en-IN" dirty="0"/>
              <a:t>')</a:t>
            </a:r>
          </a:p>
          <a:p>
            <a:r>
              <a:rPr lang="en-IN" dirty="0"/>
              <a:t>  • Mixed casing, </a:t>
            </a:r>
            <a:r>
              <a:rPr lang="en-IN" dirty="0" err="1"/>
              <a:t>stopwords</a:t>
            </a:r>
            <a:r>
              <a:rPr lang="en-IN" dirty="0"/>
              <a:t>, non-alphabetic characters</a:t>
            </a:r>
          </a:p>
          <a:p>
            <a:r>
              <a:rPr lang="en-IN" dirty="0"/>
              <a:t>- Challenge: Unclean data reduces accuracy of NLP tasks</a:t>
            </a:r>
          </a:p>
          <a:p>
            <a:endParaRPr lang="en-IN" dirty="0"/>
          </a:p>
        </p:txBody>
      </p:sp>
    </p:spTree>
    <p:extLst>
      <p:ext uri="{BB962C8B-B14F-4D97-AF65-F5344CB8AC3E}">
        <p14:creationId xmlns:p14="http://schemas.microsoft.com/office/powerpoint/2010/main" val="17981713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A61FF-2097-5BD3-3BAA-8A99005C11DE}"/>
              </a:ext>
            </a:extLst>
          </p:cNvPr>
          <p:cNvSpPr>
            <a:spLocks noGrp="1"/>
          </p:cNvSpPr>
          <p:nvPr>
            <p:ph type="title"/>
          </p:nvPr>
        </p:nvSpPr>
        <p:spPr/>
        <p:txBody>
          <a:bodyPr/>
          <a:lstStyle/>
          <a:p>
            <a:r>
              <a:rPr lang="en-IN" dirty="0"/>
              <a:t>Scope</a:t>
            </a:r>
          </a:p>
        </p:txBody>
      </p:sp>
      <p:sp>
        <p:nvSpPr>
          <p:cNvPr id="3" name="Content Placeholder 2">
            <a:extLst>
              <a:ext uri="{FF2B5EF4-FFF2-40B4-BE49-F238E27FC236}">
                <a16:creationId xmlns:a16="http://schemas.microsoft.com/office/drawing/2014/main" id="{97E02776-C3BF-8C97-40DD-860AF9E2D30E}"/>
              </a:ext>
            </a:extLst>
          </p:cNvPr>
          <p:cNvSpPr>
            <a:spLocks noGrp="1"/>
          </p:cNvSpPr>
          <p:nvPr>
            <p:ph idx="1"/>
          </p:nvPr>
        </p:nvSpPr>
        <p:spPr/>
        <p:txBody>
          <a:bodyPr/>
          <a:lstStyle/>
          <a:p>
            <a:r>
              <a:rPr lang="en-US" dirty="0"/>
              <a:t>- Input: Excel/CSV file with column 'Comment'</a:t>
            </a:r>
          </a:p>
          <a:p>
            <a:r>
              <a:rPr lang="en-US" dirty="0"/>
              <a:t>- Processing: Text cleaning pipeline</a:t>
            </a:r>
          </a:p>
          <a:p>
            <a:r>
              <a:rPr lang="en-US" dirty="0"/>
              <a:t>- Output: Cleaned comments (Excel/CSV)</a:t>
            </a:r>
          </a:p>
          <a:p>
            <a:r>
              <a:rPr lang="en-US" dirty="0"/>
              <a:t>- Works efficiently on 1000+ rows under 2 minutes</a:t>
            </a:r>
          </a:p>
          <a:p>
            <a:endParaRPr lang="en-IN" dirty="0"/>
          </a:p>
        </p:txBody>
      </p:sp>
    </p:spTree>
    <p:extLst>
      <p:ext uri="{BB962C8B-B14F-4D97-AF65-F5344CB8AC3E}">
        <p14:creationId xmlns:p14="http://schemas.microsoft.com/office/powerpoint/2010/main" val="39999688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98DB8-6687-7584-68E0-9DEFD2F92976}"/>
              </a:ext>
            </a:extLst>
          </p:cNvPr>
          <p:cNvSpPr>
            <a:spLocks noGrp="1"/>
          </p:cNvSpPr>
          <p:nvPr>
            <p:ph type="title"/>
          </p:nvPr>
        </p:nvSpPr>
        <p:spPr/>
        <p:txBody>
          <a:bodyPr/>
          <a:lstStyle/>
          <a:p>
            <a:r>
              <a:rPr lang="en-IN" dirty="0"/>
              <a:t>Methodology</a:t>
            </a:r>
          </a:p>
        </p:txBody>
      </p:sp>
      <p:sp>
        <p:nvSpPr>
          <p:cNvPr id="3" name="Content Placeholder 2">
            <a:extLst>
              <a:ext uri="{FF2B5EF4-FFF2-40B4-BE49-F238E27FC236}">
                <a16:creationId xmlns:a16="http://schemas.microsoft.com/office/drawing/2014/main" id="{7E90F164-ED94-4159-24F0-4FEC2C406BEA}"/>
              </a:ext>
            </a:extLst>
          </p:cNvPr>
          <p:cNvSpPr>
            <a:spLocks noGrp="1"/>
          </p:cNvSpPr>
          <p:nvPr>
            <p:ph idx="1"/>
          </p:nvPr>
        </p:nvSpPr>
        <p:spPr/>
        <p:txBody>
          <a:bodyPr/>
          <a:lstStyle/>
          <a:p>
            <a:r>
              <a:rPr lang="en-US" dirty="0"/>
              <a:t>1. Remove emojis &amp; HTML tags</a:t>
            </a:r>
          </a:p>
          <a:p>
            <a:r>
              <a:rPr lang="en-US" dirty="0"/>
              <a:t>2. Expand contractions</a:t>
            </a:r>
          </a:p>
          <a:p>
            <a:r>
              <a:rPr lang="en-US" dirty="0"/>
              <a:t>3. Normalize repeated characters</a:t>
            </a:r>
          </a:p>
          <a:p>
            <a:r>
              <a:rPr lang="en-US" dirty="0"/>
              <a:t>4. Remove non-alphabetic chars, lowercase</a:t>
            </a:r>
          </a:p>
          <a:p>
            <a:r>
              <a:rPr lang="en-US" dirty="0"/>
              <a:t>5. Tokenization + </a:t>
            </a:r>
            <a:r>
              <a:rPr lang="en-US" dirty="0" err="1"/>
              <a:t>Stopword</a:t>
            </a:r>
            <a:r>
              <a:rPr lang="en-US" dirty="0"/>
              <a:t> removal</a:t>
            </a:r>
          </a:p>
          <a:p>
            <a:endParaRPr lang="en-IN" dirty="0"/>
          </a:p>
        </p:txBody>
      </p:sp>
    </p:spTree>
    <p:extLst>
      <p:ext uri="{BB962C8B-B14F-4D97-AF65-F5344CB8AC3E}">
        <p14:creationId xmlns:p14="http://schemas.microsoft.com/office/powerpoint/2010/main" val="3931317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640DF-6DDE-7CE1-4917-B19F4CE53998}"/>
              </a:ext>
            </a:extLst>
          </p:cNvPr>
          <p:cNvSpPr>
            <a:spLocks noGrp="1"/>
          </p:cNvSpPr>
          <p:nvPr>
            <p:ph type="title"/>
          </p:nvPr>
        </p:nvSpPr>
        <p:spPr/>
        <p:txBody>
          <a:bodyPr/>
          <a:lstStyle/>
          <a:p>
            <a:r>
              <a:rPr lang="en-IN" dirty="0"/>
              <a:t>Tools &amp; Libraries</a:t>
            </a:r>
          </a:p>
        </p:txBody>
      </p:sp>
      <p:sp>
        <p:nvSpPr>
          <p:cNvPr id="3" name="Content Placeholder 2">
            <a:extLst>
              <a:ext uri="{FF2B5EF4-FFF2-40B4-BE49-F238E27FC236}">
                <a16:creationId xmlns:a16="http://schemas.microsoft.com/office/drawing/2014/main" id="{93654DF8-A921-31D8-B945-990CF4F76E03}"/>
              </a:ext>
            </a:extLst>
          </p:cNvPr>
          <p:cNvSpPr>
            <a:spLocks noGrp="1"/>
          </p:cNvSpPr>
          <p:nvPr>
            <p:ph idx="1"/>
          </p:nvPr>
        </p:nvSpPr>
        <p:spPr/>
        <p:txBody>
          <a:bodyPr/>
          <a:lstStyle/>
          <a:p>
            <a:r>
              <a:rPr lang="en-IN" dirty="0"/>
              <a:t>- Python</a:t>
            </a:r>
          </a:p>
          <a:p>
            <a:r>
              <a:rPr lang="en-IN" dirty="0"/>
              <a:t>- pandas – data handling</a:t>
            </a:r>
          </a:p>
          <a:p>
            <a:r>
              <a:rPr lang="en-IN" dirty="0"/>
              <a:t>- re, html, emoji – text cleaning</a:t>
            </a:r>
          </a:p>
          <a:p>
            <a:r>
              <a:rPr lang="en-IN" dirty="0"/>
              <a:t>- </a:t>
            </a:r>
            <a:r>
              <a:rPr lang="en-IN" dirty="0" err="1"/>
              <a:t>nltk</a:t>
            </a:r>
            <a:r>
              <a:rPr lang="en-IN" dirty="0"/>
              <a:t> / </a:t>
            </a:r>
            <a:r>
              <a:rPr lang="en-IN" dirty="0" err="1"/>
              <a:t>spaCy</a:t>
            </a:r>
            <a:r>
              <a:rPr lang="en-IN" dirty="0"/>
              <a:t> – tokenization &amp; </a:t>
            </a:r>
            <a:r>
              <a:rPr lang="en-IN" dirty="0" err="1"/>
              <a:t>stopwords</a:t>
            </a:r>
            <a:endParaRPr lang="en-IN" dirty="0"/>
          </a:p>
          <a:p>
            <a:r>
              <a:rPr lang="en-IN" dirty="0"/>
              <a:t>- Optional: </a:t>
            </a:r>
            <a:r>
              <a:rPr lang="en-IN" dirty="0" err="1"/>
              <a:t>Streamlit</a:t>
            </a:r>
            <a:r>
              <a:rPr lang="en-IN" dirty="0"/>
              <a:t>/</a:t>
            </a:r>
            <a:r>
              <a:rPr lang="en-IN" dirty="0" err="1"/>
              <a:t>Tkinter</a:t>
            </a:r>
            <a:r>
              <a:rPr lang="en-IN" dirty="0"/>
              <a:t> for GUI</a:t>
            </a:r>
          </a:p>
          <a:p>
            <a:endParaRPr lang="en-IN" dirty="0"/>
          </a:p>
        </p:txBody>
      </p:sp>
    </p:spTree>
    <p:extLst>
      <p:ext uri="{BB962C8B-B14F-4D97-AF65-F5344CB8AC3E}">
        <p14:creationId xmlns:p14="http://schemas.microsoft.com/office/powerpoint/2010/main" val="31689912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A1BD1-7E87-F705-6EB1-2E4F74F59D65}"/>
              </a:ext>
            </a:extLst>
          </p:cNvPr>
          <p:cNvSpPr>
            <a:spLocks noGrp="1"/>
          </p:cNvSpPr>
          <p:nvPr>
            <p:ph type="title"/>
          </p:nvPr>
        </p:nvSpPr>
        <p:spPr/>
        <p:txBody>
          <a:bodyPr/>
          <a:lstStyle/>
          <a:p>
            <a:r>
              <a:rPr lang="en-IN" dirty="0"/>
              <a:t>Example: Before &amp; After</a:t>
            </a:r>
          </a:p>
        </p:txBody>
      </p:sp>
      <p:sp>
        <p:nvSpPr>
          <p:cNvPr id="3" name="Content Placeholder 2">
            <a:extLst>
              <a:ext uri="{FF2B5EF4-FFF2-40B4-BE49-F238E27FC236}">
                <a16:creationId xmlns:a16="http://schemas.microsoft.com/office/drawing/2014/main" id="{DB506CFF-8806-F0BE-ED27-E772A3B2B8FE}"/>
              </a:ext>
            </a:extLst>
          </p:cNvPr>
          <p:cNvSpPr>
            <a:spLocks noGrp="1"/>
          </p:cNvSpPr>
          <p:nvPr>
            <p:ph idx="1"/>
          </p:nvPr>
        </p:nvSpPr>
        <p:spPr/>
        <p:txBody>
          <a:bodyPr/>
          <a:lstStyle/>
          <a:p>
            <a:r>
              <a:rPr lang="en-US" dirty="0"/>
              <a:t>Original: “This phone is </a:t>
            </a:r>
            <a:r>
              <a:rPr lang="en-US" dirty="0" err="1"/>
              <a:t>soooo</a:t>
            </a:r>
            <a:r>
              <a:rPr lang="en-US" dirty="0"/>
              <a:t> </a:t>
            </a:r>
            <a:r>
              <a:rPr lang="en-US" dirty="0" err="1"/>
              <a:t>goooood</a:t>
            </a:r>
            <a:r>
              <a:rPr lang="en-US" dirty="0"/>
              <a:t>!!! 😍🔥”</a:t>
            </a:r>
          </a:p>
          <a:p>
            <a:r>
              <a:rPr lang="en-US" dirty="0"/>
              <a:t>Cleaned: “this phone is good”</a:t>
            </a:r>
          </a:p>
          <a:p>
            <a:endParaRPr lang="en-US" dirty="0"/>
          </a:p>
          <a:p>
            <a:r>
              <a:rPr lang="en-US" dirty="0"/>
              <a:t>Original: “Didn’t like the product &lt;</a:t>
            </a:r>
            <a:r>
              <a:rPr lang="en-US" dirty="0" err="1"/>
              <a:t>br</a:t>
            </a:r>
            <a:r>
              <a:rPr lang="en-US" dirty="0"/>
              <a:t>&gt; Bad quality”</a:t>
            </a:r>
          </a:p>
          <a:p>
            <a:r>
              <a:rPr lang="en-US" dirty="0"/>
              <a:t>Cleaned: “did not like the product bad quality”</a:t>
            </a:r>
          </a:p>
          <a:p>
            <a:endParaRPr lang="en-IN" dirty="0"/>
          </a:p>
        </p:txBody>
      </p:sp>
    </p:spTree>
    <p:extLst>
      <p:ext uri="{BB962C8B-B14F-4D97-AF65-F5344CB8AC3E}">
        <p14:creationId xmlns:p14="http://schemas.microsoft.com/office/powerpoint/2010/main" val="18363612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19D6A-F78B-C58E-5F0E-D2281B08F0D3}"/>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3BED2664-BFE5-E702-E51D-E20870B2F954}"/>
              </a:ext>
            </a:extLst>
          </p:cNvPr>
          <p:cNvSpPr>
            <a:spLocks noGrp="1"/>
          </p:cNvSpPr>
          <p:nvPr>
            <p:ph idx="1"/>
          </p:nvPr>
        </p:nvSpPr>
        <p:spPr/>
        <p:txBody>
          <a:bodyPr/>
          <a:lstStyle/>
          <a:p>
            <a:r>
              <a:rPr lang="en-US" dirty="0"/>
              <a:t>- Built a reusable cleaning pipeline</a:t>
            </a:r>
          </a:p>
          <a:p>
            <a:r>
              <a:rPr lang="en-US" dirty="0"/>
              <a:t>- Improves quality of downstream analysis (sentiment, keyword extraction)</a:t>
            </a:r>
          </a:p>
          <a:p>
            <a:r>
              <a:rPr lang="en-US" dirty="0"/>
              <a:t>- Modular design → easy to extend</a:t>
            </a:r>
          </a:p>
          <a:p>
            <a:endParaRPr lang="en-IN" dirty="0"/>
          </a:p>
        </p:txBody>
      </p:sp>
    </p:spTree>
    <p:extLst>
      <p:ext uri="{BB962C8B-B14F-4D97-AF65-F5344CB8AC3E}">
        <p14:creationId xmlns:p14="http://schemas.microsoft.com/office/powerpoint/2010/main" val="13001458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13355-0D85-70E6-E4A8-503DFD780A65}"/>
              </a:ext>
            </a:extLst>
          </p:cNvPr>
          <p:cNvSpPr>
            <a:spLocks noGrp="1"/>
          </p:cNvSpPr>
          <p:nvPr>
            <p:ph type="title"/>
          </p:nvPr>
        </p:nvSpPr>
        <p:spPr/>
        <p:txBody>
          <a:bodyPr/>
          <a:lstStyle/>
          <a:p>
            <a:r>
              <a:rPr lang="en-IN" dirty="0"/>
              <a:t>Future Work</a:t>
            </a:r>
          </a:p>
        </p:txBody>
      </p:sp>
      <p:sp>
        <p:nvSpPr>
          <p:cNvPr id="3" name="Content Placeholder 2">
            <a:extLst>
              <a:ext uri="{FF2B5EF4-FFF2-40B4-BE49-F238E27FC236}">
                <a16:creationId xmlns:a16="http://schemas.microsoft.com/office/drawing/2014/main" id="{3DE6B639-6ACF-26BC-E770-0457BD51A6D6}"/>
              </a:ext>
            </a:extLst>
          </p:cNvPr>
          <p:cNvSpPr>
            <a:spLocks noGrp="1"/>
          </p:cNvSpPr>
          <p:nvPr>
            <p:ph idx="1"/>
          </p:nvPr>
        </p:nvSpPr>
        <p:spPr/>
        <p:txBody>
          <a:bodyPr/>
          <a:lstStyle/>
          <a:p>
            <a:r>
              <a:rPr lang="en-US" dirty="0"/>
              <a:t>- Add spelling correction</a:t>
            </a:r>
          </a:p>
          <a:p>
            <a:r>
              <a:rPr lang="en-US" dirty="0"/>
              <a:t>- Named Entity Recognition (NER)</a:t>
            </a:r>
          </a:p>
          <a:p>
            <a:r>
              <a:rPr lang="en-US" dirty="0"/>
              <a:t>- Language detection &amp; translation</a:t>
            </a:r>
          </a:p>
          <a:p>
            <a:r>
              <a:rPr lang="en-US" dirty="0"/>
              <a:t>- Integration with ML models</a:t>
            </a:r>
          </a:p>
          <a:p>
            <a:endParaRPr lang="en-IN" dirty="0"/>
          </a:p>
        </p:txBody>
      </p:sp>
    </p:spTree>
    <p:extLst>
      <p:ext uri="{BB962C8B-B14F-4D97-AF65-F5344CB8AC3E}">
        <p14:creationId xmlns:p14="http://schemas.microsoft.com/office/powerpoint/2010/main" val="17474304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Future Work</a:t>
            </a:r>
          </a:p>
        </p:txBody>
      </p:sp>
      <p:sp>
        <p:nvSpPr>
          <p:cNvPr id="3" name="Content Placeholder 2"/>
          <p:cNvSpPr>
            <a:spLocks noGrp="1"/>
          </p:cNvSpPr>
          <p:nvPr>
            <p:ph idx="1"/>
          </p:nvPr>
        </p:nvSpPr>
        <p:spPr/>
        <p:txBody>
          <a:bodyPr/>
          <a:lstStyle/>
          <a:p>
            <a:r>
              <a:rPr dirty="0"/>
              <a:t>- Add spelling correction</a:t>
            </a:r>
          </a:p>
          <a:p>
            <a:r>
              <a:rPr dirty="0"/>
              <a:t>- Named Entity Recognition (NER)</a:t>
            </a:r>
          </a:p>
          <a:p>
            <a:r>
              <a:rPr dirty="0"/>
              <a:t>- Language detection &amp; translation</a:t>
            </a:r>
          </a:p>
          <a:p>
            <a:r>
              <a:rPr dirty="0"/>
              <a:t>- Integration with ML models</a:t>
            </a:r>
          </a:p>
        </p:txBody>
      </p:sp>
    </p:spTree>
    <p:extLst>
      <p:ext uri="{BB962C8B-B14F-4D97-AF65-F5344CB8AC3E}">
        <p14:creationId xmlns:p14="http://schemas.microsoft.com/office/powerpoint/2010/main" val="14265309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7318</TotalTime>
  <Words>502</Words>
  <Application>Microsoft Office PowerPoint</Application>
  <PresentationFormat>Widescreen</PresentationFormat>
  <Paragraphs>72</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BIA Template</vt:lpstr>
      <vt:lpstr>PowerPoint Presentation</vt:lpstr>
      <vt:lpstr>INTRODUCTION </vt:lpstr>
      <vt:lpstr>Project Overview</vt:lpstr>
      <vt:lpstr>COLUMN DETAIL</vt:lpstr>
      <vt:lpstr>Problem Statement</vt:lpstr>
      <vt:lpstr>Scope</vt:lpstr>
      <vt:lpstr>Methodology</vt:lpstr>
      <vt:lpstr>Tools &amp; Libraries</vt:lpstr>
      <vt:lpstr>Example: Before &amp; After</vt:lpstr>
      <vt:lpstr>Conclusion</vt:lpstr>
      <vt:lpstr>Future Work</vt:lpstr>
      <vt:lpstr>Future Work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Ashish Thakur</cp:lastModifiedBy>
  <cp:revision>2257</cp:revision>
  <dcterms:created xsi:type="dcterms:W3CDTF">2020-12-23T13:36:00Z</dcterms:created>
  <dcterms:modified xsi:type="dcterms:W3CDTF">2025-08-19T09:55:30Z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